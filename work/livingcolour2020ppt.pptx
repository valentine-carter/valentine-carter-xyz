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86"/>
  </p:normalViewPr>
  <p:slideViewPr>
    <p:cSldViewPr snapToGrid="0" snapToObjects="1">
      <p:cViewPr varScale="1">
        <p:scale>
          <a:sx n="54" d="100"/>
          <a:sy n="54" d="100"/>
        </p:scale>
        <p:origin x="792"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sz="half" idx="13"/>
          </p:nvPr>
        </p:nvSpPr>
        <p:spPr>
          <a:xfrm>
            <a:off x="7044796" y="2019409"/>
            <a:ext cx="10287003" cy="6861574"/>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6673453" y="8800207"/>
            <a:ext cx="11037095" cy="1500188"/>
          </a:xfrm>
          <a:prstGeom prst="rect">
            <a:avLst/>
          </a:prstGeom>
        </p:spPr>
        <p:txBody>
          <a:bodyPr/>
          <a:lstStyle/>
          <a:p>
            <a:r>
              <a:t>Title Text</a:t>
            </a:r>
          </a:p>
        </p:txBody>
      </p:sp>
      <p:sp>
        <p:nvSpPr>
          <p:cNvPr id="22" name="Body Level One…"/>
          <p:cNvSpPr txBox="1">
            <a:spLocks noGrp="1"/>
          </p:cNvSpPr>
          <p:nvPr>
            <p:ph type="body" sz="quarter" idx="1"/>
          </p:nvPr>
        </p:nvSpPr>
        <p:spPr>
          <a:xfrm>
            <a:off x="6673453" y="10313789"/>
            <a:ext cx="11037095" cy="119211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6673453" y="5116710"/>
            <a:ext cx="11037095" cy="3482580"/>
          </a:xfrm>
          <a:prstGeom prst="rect">
            <a:avLst/>
          </a:prstGeom>
        </p:spPr>
        <p:txBody>
          <a:bodyPr anchor="ctr"/>
          <a:lstStyle/>
          <a:p>
            <a:r>
              <a:t>Title Text</a:t>
            </a:r>
          </a:p>
        </p:txBody>
      </p:sp>
      <p:sp>
        <p:nvSpPr>
          <p:cNvPr id="31"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721575" y="2361902"/>
            <a:ext cx="13079760" cy="8719842"/>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6338589" y="2384226"/>
            <a:ext cx="5625704" cy="4205884"/>
          </a:xfrm>
          <a:prstGeom prst="rect">
            <a:avLst/>
          </a:prstGeom>
        </p:spPr>
        <p:txBody>
          <a:bodyPr/>
          <a:lstStyle>
            <a:lvl1pPr>
              <a:defRPr sz="8000"/>
            </a:lvl1pPr>
          </a:lstStyle>
          <a:p>
            <a:r>
              <a:t>Title Text</a:t>
            </a:r>
          </a:p>
        </p:txBody>
      </p:sp>
      <p:sp>
        <p:nvSpPr>
          <p:cNvPr id="40" name="Body Level One…"/>
          <p:cNvSpPr txBox="1">
            <a:spLocks noGrp="1"/>
          </p:cNvSpPr>
          <p:nvPr>
            <p:ph type="body" sz="quarter" idx="1"/>
          </p:nvPr>
        </p:nvSpPr>
        <p:spPr>
          <a:xfrm>
            <a:off x="6338589" y="6697265"/>
            <a:ext cx="5625704" cy="433983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xfrm>
            <a:off x="6338589" y="1982390"/>
            <a:ext cx="11706822" cy="2277071"/>
          </a:xfrm>
          <a:prstGeom prst="rect">
            <a:avLst/>
          </a:prstGeom>
        </p:spPr>
        <p:txBody>
          <a:bodyPr anchor="ctr"/>
          <a:lstStyle/>
          <a:p>
            <a:r>
              <a:t>Title Text</a:t>
            </a:r>
          </a:p>
        </p:txBody>
      </p:sp>
      <p:sp>
        <p:nvSpPr>
          <p:cNvPr id="49"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6338589" y="1982390"/>
            <a:ext cx="11706822" cy="2277071"/>
          </a:xfrm>
          <a:prstGeom prst="rect">
            <a:avLst/>
          </a:prstGeom>
        </p:spPr>
        <p:txBody>
          <a:bodyPr anchor="ctr"/>
          <a:lstStyle/>
          <a:p>
            <a:r>
              <a:t>Title Text</a:t>
            </a:r>
          </a:p>
        </p:txBody>
      </p:sp>
      <p:sp>
        <p:nvSpPr>
          <p:cNvPr id="57" name="Body Level One…"/>
          <p:cNvSpPr txBox="1">
            <a:spLocks noGrp="1"/>
          </p:cNvSpPr>
          <p:nvPr>
            <p:ph type="body" sz="half" idx="1"/>
          </p:nvPr>
        </p:nvSpPr>
        <p:spPr>
          <a:xfrm>
            <a:off x="6338589" y="4446984"/>
            <a:ext cx="11706822" cy="6630294"/>
          </a:xfrm>
          <a:prstGeom prst="rect">
            <a:avLst/>
          </a:prstGeom>
        </p:spPr>
        <p:txBody>
          <a:bodyPr anchor="ctr"/>
          <a:lstStyle>
            <a:lvl1pPr marL="583406" indent="-583406" algn="l">
              <a:spcBef>
                <a:spcPts val="5900"/>
              </a:spcBef>
              <a:buSzPct val="145000"/>
              <a:buChar char="•"/>
              <a:defRPr sz="4200"/>
            </a:lvl1pPr>
            <a:lvl2pPr marL="1027906" indent="-583406" algn="l">
              <a:spcBef>
                <a:spcPts val="5900"/>
              </a:spcBef>
              <a:buSzPct val="145000"/>
              <a:buChar char="•"/>
              <a:defRPr sz="4200"/>
            </a:lvl2pPr>
            <a:lvl3pPr marL="1472406" indent="-583406" algn="l">
              <a:spcBef>
                <a:spcPts val="5900"/>
              </a:spcBef>
              <a:buSzPct val="145000"/>
              <a:buChar char="•"/>
              <a:defRPr sz="4200"/>
            </a:lvl3pPr>
            <a:lvl4pPr marL="1916906" indent="-583406" algn="l">
              <a:spcBef>
                <a:spcPts val="5900"/>
              </a:spcBef>
              <a:buSzPct val="145000"/>
              <a:buChar char="•"/>
              <a:defRPr sz="4200"/>
            </a:lvl4pPr>
            <a:lvl5pPr marL="2361406" indent="-583406" algn="l">
              <a:spcBef>
                <a:spcPts val="5900"/>
              </a:spcBef>
              <a:buSzPct val="145000"/>
              <a:buChar char="•"/>
              <a:defRPr sz="4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quarter" idx="13"/>
          </p:nvPr>
        </p:nvSpPr>
        <p:spPr>
          <a:xfrm>
            <a:off x="9643690" y="4442518"/>
            <a:ext cx="9945441" cy="6630294"/>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xfrm>
            <a:off x="6338589" y="1982390"/>
            <a:ext cx="11706822" cy="2277071"/>
          </a:xfrm>
          <a:prstGeom prst="rect">
            <a:avLst/>
          </a:prstGeom>
        </p:spPr>
        <p:txBody>
          <a:bodyPr anchor="ctr"/>
          <a:lstStyle/>
          <a:p>
            <a:r>
              <a:t>Title Text</a:t>
            </a:r>
          </a:p>
        </p:txBody>
      </p:sp>
      <p:sp>
        <p:nvSpPr>
          <p:cNvPr id="67" name="Body Level One…"/>
          <p:cNvSpPr txBox="1">
            <a:spLocks noGrp="1"/>
          </p:cNvSpPr>
          <p:nvPr>
            <p:ph type="body" sz="quarter" idx="1"/>
          </p:nvPr>
        </p:nvSpPr>
        <p:spPr>
          <a:xfrm>
            <a:off x="6338589" y="4446984"/>
            <a:ext cx="5625704" cy="6630294"/>
          </a:xfrm>
          <a:prstGeom prst="rect">
            <a:avLst/>
          </a:prstGeom>
        </p:spPr>
        <p:txBody>
          <a:bodyPr anchor="ctr"/>
          <a:lstStyle>
            <a:lvl1pPr marL="440871" indent="-440871" algn="l">
              <a:spcBef>
                <a:spcPts val="4500"/>
              </a:spcBef>
              <a:buSzPct val="145000"/>
              <a:buChar char="•"/>
              <a:defRPr sz="3600"/>
            </a:lvl1pPr>
            <a:lvl2pPr marL="783771" indent="-440871" algn="l">
              <a:spcBef>
                <a:spcPts val="4500"/>
              </a:spcBef>
              <a:buSzPct val="145000"/>
              <a:buChar char="•"/>
              <a:defRPr sz="3600"/>
            </a:lvl2pPr>
            <a:lvl3pPr marL="1126671" indent="-440871" algn="l">
              <a:spcBef>
                <a:spcPts val="4500"/>
              </a:spcBef>
              <a:buSzPct val="145000"/>
              <a:buChar char="•"/>
              <a:defRPr sz="3600"/>
            </a:lvl3pPr>
            <a:lvl4pPr marL="1469571" indent="-440871" algn="l">
              <a:spcBef>
                <a:spcPts val="4500"/>
              </a:spcBef>
              <a:buSzPct val="145000"/>
              <a:buChar char="•"/>
              <a:defRPr sz="3600"/>
            </a:lvl4pPr>
            <a:lvl5pPr marL="1812471" indent="-440871" algn="l">
              <a:spcBef>
                <a:spcPts val="4500"/>
              </a:spcBef>
              <a:buSzPct val="145000"/>
              <a:buChar char="•"/>
              <a:defRPr sz="36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xfrm>
            <a:off x="12001398" y="11519296"/>
            <a:ext cx="374060" cy="386558"/>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sz="half" idx="1"/>
          </p:nvPr>
        </p:nvSpPr>
        <p:spPr>
          <a:xfrm>
            <a:off x="6338589" y="3053952"/>
            <a:ext cx="11706822" cy="7608096"/>
          </a:xfrm>
          <a:prstGeom prst="rect">
            <a:avLst/>
          </a:prstGeom>
        </p:spPr>
        <p:txBody>
          <a:bodyPr anchor="ctr"/>
          <a:lstStyle>
            <a:lvl1pPr marL="583406" indent="-583406" algn="l">
              <a:spcBef>
                <a:spcPts val="5900"/>
              </a:spcBef>
              <a:buSzPct val="145000"/>
              <a:buChar char="•"/>
              <a:defRPr sz="4200"/>
            </a:lvl1pPr>
            <a:lvl2pPr marL="1027906" indent="-583406" algn="l">
              <a:spcBef>
                <a:spcPts val="5900"/>
              </a:spcBef>
              <a:buSzPct val="145000"/>
              <a:buChar char="•"/>
              <a:defRPr sz="4200"/>
            </a:lvl2pPr>
            <a:lvl3pPr marL="1472406" indent="-583406" algn="l">
              <a:spcBef>
                <a:spcPts val="5900"/>
              </a:spcBef>
              <a:buSzPct val="145000"/>
              <a:buChar char="•"/>
              <a:defRPr sz="4200"/>
            </a:lvl3pPr>
            <a:lvl4pPr marL="1916906" indent="-583406" algn="l">
              <a:spcBef>
                <a:spcPts val="5900"/>
              </a:spcBef>
              <a:buSzPct val="145000"/>
              <a:buChar char="•"/>
              <a:defRPr sz="4200"/>
            </a:lvl4pPr>
            <a:lvl5pPr marL="2361406" indent="-583406" algn="l">
              <a:spcBef>
                <a:spcPts val="5900"/>
              </a:spcBef>
              <a:buSzPct val="145000"/>
              <a:buChar char="•"/>
              <a:defRPr sz="42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12379523" y="7018734"/>
            <a:ext cx="6385867" cy="4259462"/>
          </a:xfrm>
          <a:prstGeom prst="rect">
            <a:avLst/>
          </a:prstGeom>
        </p:spPr>
        <p:txBody>
          <a:bodyPr lIns="91439" tIns="45719" rIns="91439" bIns="45719">
            <a:noAutofit/>
          </a:bodyPr>
          <a:lstStyle/>
          <a:p>
            <a:endParaRPr/>
          </a:p>
        </p:txBody>
      </p:sp>
      <p:sp>
        <p:nvSpPr>
          <p:cNvPr id="84" name="Image"/>
          <p:cNvSpPr>
            <a:spLocks noGrp="1"/>
          </p:cNvSpPr>
          <p:nvPr>
            <p:ph type="pic" sz="quarter" idx="14"/>
          </p:nvPr>
        </p:nvSpPr>
        <p:spPr>
          <a:xfrm>
            <a:off x="12192000" y="2652116"/>
            <a:ext cx="6188274" cy="4125518"/>
          </a:xfrm>
          <a:prstGeom prst="rect">
            <a:avLst/>
          </a:prstGeom>
        </p:spPr>
        <p:txBody>
          <a:bodyPr lIns="91439" tIns="45719" rIns="91439" bIns="45719">
            <a:noAutofit/>
          </a:bodyPr>
          <a:lstStyle/>
          <a:p>
            <a:endParaRPr/>
          </a:p>
        </p:txBody>
      </p:sp>
      <p:sp>
        <p:nvSpPr>
          <p:cNvPr id="85" name="Image"/>
          <p:cNvSpPr>
            <a:spLocks noGrp="1"/>
          </p:cNvSpPr>
          <p:nvPr>
            <p:ph type="pic" sz="half" idx="15"/>
          </p:nvPr>
        </p:nvSpPr>
        <p:spPr>
          <a:xfrm>
            <a:off x="2829222" y="2652116"/>
            <a:ext cx="12637741" cy="8425162"/>
          </a:xfrm>
          <a:prstGeom prst="rect">
            <a:avLst/>
          </a:prstGeom>
        </p:spPr>
        <p:txBody>
          <a:bodyPr lIns="91439" tIns="45719" rIns="91439" bIns="45719">
            <a:noAutofit/>
          </a:bodyPr>
          <a:lstStyle/>
          <a:p>
            <a:endParaRPr/>
          </a:p>
        </p:txBody>
      </p:sp>
      <p:sp>
        <p:nvSpPr>
          <p:cNvPr id="86"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6673453" y="8425160"/>
            <a:ext cx="11037095" cy="553689"/>
          </a:xfrm>
          <a:prstGeom prst="rect">
            <a:avLst/>
          </a:prstGeom>
        </p:spPr>
        <p:txBody>
          <a:bodyPr>
            <a:spAutoFit/>
          </a:bodyPr>
          <a:lstStyle>
            <a:lvl1pPr>
              <a:defRPr sz="3000" i="1"/>
            </a:lvl1pPr>
          </a:lstStyle>
          <a:p>
            <a:r>
              <a:t>–Johnny Appleseed</a:t>
            </a:r>
          </a:p>
        </p:txBody>
      </p:sp>
      <p:sp>
        <p:nvSpPr>
          <p:cNvPr id="94" name="“Type a quote here.”"/>
          <p:cNvSpPr txBox="1">
            <a:spLocks noGrp="1"/>
          </p:cNvSpPr>
          <p:nvPr>
            <p:ph type="body" sz="quarter" idx="14"/>
          </p:nvPr>
        </p:nvSpPr>
        <p:spPr>
          <a:xfrm>
            <a:off x="6673453" y="6148157"/>
            <a:ext cx="11037095" cy="776748"/>
          </a:xfrm>
          <a:prstGeom prst="rect">
            <a:avLst/>
          </a:prstGeom>
        </p:spPr>
        <p:txBody>
          <a:bodyPr anchor="ctr">
            <a:spAutoFit/>
          </a:bodyPr>
          <a:lstStyle>
            <a:lvl1pPr>
              <a:defRPr sz="44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4332201" y="1714499"/>
            <a:ext cx="15719598" cy="10487920"/>
          </a:xfrm>
          <a:prstGeom prst="rect">
            <a:avLst/>
          </a:prstGeom>
        </p:spPr>
        <p:txBody>
          <a:bodyPr lIns="91439" tIns="45719" rIns="91439" bIns="45719">
            <a:noAutofit/>
          </a:bodyPr>
          <a:lstStyle/>
          <a:p>
            <a:endParaRPr/>
          </a:p>
        </p:txBody>
      </p:sp>
      <p:sp>
        <p:nvSpPr>
          <p:cNvPr id="103"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673453" y="3442394"/>
            <a:ext cx="11037095" cy="34825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3578" tIns="53578" rIns="53578" bIns="53578" anchor="b">
            <a:normAutofit/>
          </a:bodyPr>
          <a:lstStyle/>
          <a:p>
            <a:r>
              <a:t>Title Text</a:t>
            </a:r>
          </a:p>
        </p:txBody>
      </p:sp>
      <p:sp>
        <p:nvSpPr>
          <p:cNvPr id="3" name="Body Level One…"/>
          <p:cNvSpPr txBox="1">
            <a:spLocks noGrp="1"/>
          </p:cNvSpPr>
          <p:nvPr>
            <p:ph type="body" idx="1"/>
          </p:nvPr>
        </p:nvSpPr>
        <p:spPr>
          <a:xfrm>
            <a:off x="6673453" y="7032128"/>
            <a:ext cx="11037095" cy="119211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3578" tIns="53578" rIns="53578" bIns="5357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01398" y="11519296"/>
            <a:ext cx="374060" cy="379927"/>
          </a:xfrm>
          <a:prstGeom prst="rect">
            <a:avLst/>
          </a:prstGeom>
          <a:ln w="3175">
            <a:miter lim="400000"/>
          </a:ln>
        </p:spPr>
        <p:txBody>
          <a:bodyPr wrap="none" lIns="53578" tIns="53578" rIns="53578" bIns="53578">
            <a:spAutoFit/>
          </a:bodyPr>
          <a:lstStyle>
            <a:lvl1pPr>
              <a:defRPr sz="1800" b="0">
                <a:latin typeface="Helvetica Neue Thin"/>
                <a:ea typeface="Helvetica Neue Thin"/>
                <a:cs typeface="Helvetica Neue Thin"/>
                <a:sym typeface="Helvetica Neue Thin"/>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1pPr>
      <a:lvl2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2pPr>
      <a:lvl3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3pPr>
      <a:lvl4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4pPr>
      <a:lvl5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5pPr>
      <a:lvl6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6pPr>
      <a:lvl7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7pPr>
      <a:lvl8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8pPr>
      <a:lvl9pPr marL="0" marR="0" indent="0" algn="ctr" defTabSz="821531" rtl="0" latinLnBrk="0">
        <a:lnSpc>
          <a:spcPct val="100000"/>
        </a:lnSpc>
        <a:spcBef>
          <a:spcPts val="0"/>
        </a:spcBef>
        <a:spcAft>
          <a:spcPts val="0"/>
        </a:spcAft>
        <a:buClrTx/>
        <a:buSzTx/>
        <a:buFontTx/>
        <a:buNone/>
        <a:tabLst/>
        <a:defRPr sz="10800" b="0" i="0" u="none" strike="noStrike" cap="none" spc="0" baseline="0">
          <a:solidFill>
            <a:srgbClr val="000000"/>
          </a:solidFill>
          <a:uFillTx/>
          <a:latin typeface="+mn-lt"/>
          <a:ea typeface="+mn-ea"/>
          <a:cs typeface="+mn-cs"/>
          <a:sym typeface="Helvetica Neue Medium"/>
        </a:defRPr>
      </a:lvl9pPr>
    </p:titleStyle>
    <p:bodyStyle>
      <a:lvl1pPr marL="0" marR="0" indent="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1pPr>
      <a:lvl2pPr marL="0" marR="0" indent="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2pPr>
      <a:lvl3pPr marL="0" marR="0" indent="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3pPr>
      <a:lvl4pPr marL="0" marR="0" indent="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4pPr>
      <a:lvl5pPr marL="0" marR="0" indent="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821531"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1pPr>
      <a:lvl2pPr marL="0" marR="0" indent="2286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2pPr>
      <a:lvl3pPr marL="0" marR="0" indent="4572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3pPr>
      <a:lvl4pPr marL="0" marR="0" indent="6858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4pPr>
      <a:lvl5pPr marL="0" marR="0" indent="9144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5pPr>
      <a:lvl6pPr marL="0" marR="0" indent="11430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6pPr>
      <a:lvl7pPr marL="0" marR="0" indent="13716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7pPr>
      <a:lvl8pPr marL="0" marR="0" indent="16002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8pPr>
      <a:lvl9pPr marL="0" marR="0" indent="1828800" algn="ctr" defTabSz="821531"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hyperlink" Target="http://valentinecarter.xyz"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Living Colour"/>
          <p:cNvSpPr txBox="1">
            <a:spLocks noGrp="1"/>
          </p:cNvSpPr>
          <p:nvPr>
            <p:ph type="ctrTitle"/>
          </p:nvPr>
        </p:nvSpPr>
        <p:spPr>
          <a:prstGeom prst="rect">
            <a:avLst/>
          </a:prstGeom>
        </p:spPr>
        <p:txBody>
          <a:bodyPr/>
          <a:lstStyle>
            <a:lvl1pPr>
              <a:defRPr b="1">
                <a:latin typeface="Helvetica Neue"/>
                <a:ea typeface="Helvetica Neue"/>
                <a:cs typeface="Helvetica Neue"/>
                <a:sym typeface="Helvetica Neue"/>
              </a:defRPr>
            </a:lvl1pPr>
          </a:lstStyle>
          <a:p>
            <a:r>
              <a:t>Living </a:t>
            </a:r>
            <a:r>
              <a:rPr dirty="0" err="1"/>
              <a:t>Colour</a:t>
            </a:r>
            <a:endParaRPr dirty="0"/>
          </a:p>
        </p:txBody>
      </p:sp>
      <p:sp>
        <p:nvSpPr>
          <p:cNvPr id="120" name="A pecha-kucha for Lee Krasner"/>
          <p:cNvSpPr txBox="1">
            <a:spLocks noGrp="1"/>
          </p:cNvSpPr>
          <p:nvPr>
            <p:ph type="subTitle" sz="quarter" idx="1"/>
          </p:nvPr>
        </p:nvSpPr>
        <p:spPr>
          <a:prstGeom prst="rect">
            <a:avLst/>
          </a:prstGeom>
        </p:spPr>
        <p:txBody>
          <a:bodyPr/>
          <a:lstStyle>
            <a:lvl1pPr>
              <a:defRPr sz="3800"/>
            </a:lvl1pPr>
          </a:lstStyle>
          <a:p>
            <a:r>
              <a:t>A pecha-kucha for Lee Krasner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8DD5"/>
        </a:solidFill>
        <a:effectLst/>
      </p:bgPr>
    </p:bg>
    <p:spTree>
      <p:nvGrpSpPr>
        <p:cNvPr id="1" name=""/>
        <p:cNvGrpSpPr/>
        <p:nvPr/>
      </p:nvGrpSpPr>
      <p:grpSpPr>
        <a:xfrm>
          <a:off x="0" y="0"/>
          <a:ext cx="0" cy="0"/>
          <a:chOff x="0" y="0"/>
          <a:chExt cx="0" cy="0"/>
        </a:xfrm>
      </p:grpSpPr>
      <p:sp>
        <p:nvSpPr>
          <p:cNvPr id="122" name="Shattered Color"/>
          <p:cNvSpPr txBox="1"/>
          <p:nvPr/>
        </p:nvSpPr>
        <p:spPr>
          <a:xfrm>
            <a:off x="6962511" y="5985767"/>
            <a:ext cx="10458978"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DD0000"/>
                </a:solidFill>
              </a:defRPr>
            </a:lvl1pPr>
          </a:lstStyle>
          <a:p>
            <a:r>
              <a:t>Shattered Color</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8DD5"/>
        </a:solidFill>
        <a:effectLst/>
      </p:bgPr>
    </p:bg>
    <p:spTree>
      <p:nvGrpSpPr>
        <p:cNvPr id="1" name=""/>
        <p:cNvGrpSpPr/>
        <p:nvPr/>
      </p:nvGrpSpPr>
      <p:grpSpPr>
        <a:xfrm>
          <a:off x="0" y="0"/>
          <a:ext cx="0" cy="0"/>
          <a:chOff x="0" y="0"/>
          <a:chExt cx="0" cy="0"/>
        </a:xfrm>
      </p:grpSpPr>
      <p:sp>
        <p:nvSpPr>
          <p:cNvPr id="124" name="more like something about the happen than something actually  happening like how it must have been when the universe was about to explode into being like the fabric of time inhaling before  vomiting out an entire galaxy all over the darkness of the void"/>
          <p:cNvSpPr txBox="1">
            <a:spLocks noGrp="1"/>
          </p:cNvSpPr>
          <p:nvPr>
            <p:ph type="body" idx="4294967295"/>
          </p:nvPr>
        </p:nvSpPr>
        <p:spPr>
          <a:xfrm>
            <a:off x="2804566" y="2325737"/>
            <a:ext cx="18774868" cy="9064526"/>
          </a:xfrm>
          <a:prstGeom prst="rect">
            <a:avLst/>
          </a:prstGeom>
        </p:spPr>
        <p:txBody>
          <a:bodyPr anchor="ctr"/>
          <a:lstStyle/>
          <a:p>
            <a:pPr algn="l">
              <a:lnSpc>
                <a:spcPct val="150000"/>
              </a:lnSpc>
              <a:spcBef>
                <a:spcPts val="5900"/>
              </a:spcBef>
              <a:defRPr sz="4700" b="1">
                <a:solidFill>
                  <a:srgbClr val="DD0000"/>
                </a:solidFill>
              </a:defRPr>
            </a:pPr>
            <a:r>
              <a:t>more like something about the happen than something actually </a:t>
            </a:r>
            <a:br/>
            <a:r>
              <a:t>happening like how it must have been when the universe was</a:t>
            </a:r>
            <a:br/>
            <a:r>
              <a:t>about to explode into being like the fabric of time inhaling before </a:t>
            </a:r>
            <a:br/>
            <a:r>
              <a:t>vomiting out an entire galaxy all over the darkness of the void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72D20"/>
        </a:solidFill>
        <a:effectLst/>
      </p:bgPr>
    </p:bg>
    <p:spTree>
      <p:nvGrpSpPr>
        <p:cNvPr id="1" name=""/>
        <p:cNvGrpSpPr/>
        <p:nvPr/>
      </p:nvGrpSpPr>
      <p:grpSpPr>
        <a:xfrm>
          <a:off x="0" y="0"/>
          <a:ext cx="0" cy="0"/>
          <a:chOff x="0" y="0"/>
          <a:chExt cx="0" cy="0"/>
        </a:xfrm>
      </p:grpSpPr>
      <p:sp>
        <p:nvSpPr>
          <p:cNvPr id="126" name="Icarus"/>
          <p:cNvSpPr txBox="1"/>
          <p:nvPr/>
        </p:nvSpPr>
        <p:spPr>
          <a:xfrm>
            <a:off x="10100732" y="6106318"/>
            <a:ext cx="4182536"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C27682"/>
                </a:solidFill>
              </a:defRPr>
            </a:lvl1pPr>
          </a:lstStyle>
          <a:p>
            <a:r>
              <a:t>Icarus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72D20"/>
        </a:solidFill>
        <a:effectLst/>
      </p:bgPr>
    </p:bg>
    <p:spTree>
      <p:nvGrpSpPr>
        <p:cNvPr id="1" name=""/>
        <p:cNvGrpSpPr/>
        <p:nvPr/>
      </p:nvGrpSpPr>
      <p:grpSpPr>
        <a:xfrm>
          <a:off x="0" y="0"/>
          <a:ext cx="0" cy="0"/>
          <a:chOff x="0" y="0"/>
          <a:chExt cx="0" cy="0"/>
        </a:xfrm>
      </p:grpSpPr>
      <p:sp>
        <p:nvSpPr>
          <p:cNvPr id="128" name="alexa knows when the world will end &amp; says it’s when the sun swells into a red giant in several billion years’ time but she also floats the  possibility that a future technology could go wrong which sound to  me like a threat like alexageddon is only eve"/>
          <p:cNvSpPr txBox="1">
            <a:spLocks noGrp="1"/>
          </p:cNvSpPr>
          <p:nvPr>
            <p:ph type="body" idx="4294967295"/>
          </p:nvPr>
        </p:nvSpPr>
        <p:spPr>
          <a:xfrm>
            <a:off x="2804566" y="2325737"/>
            <a:ext cx="18774868" cy="9064526"/>
          </a:xfrm>
          <a:prstGeom prst="rect">
            <a:avLst/>
          </a:prstGeom>
        </p:spPr>
        <p:txBody>
          <a:bodyPr anchor="ctr"/>
          <a:lstStyle/>
          <a:p>
            <a:pPr algn="l">
              <a:lnSpc>
                <a:spcPct val="150000"/>
              </a:lnSpc>
              <a:spcBef>
                <a:spcPts val="5900"/>
              </a:spcBef>
              <a:defRPr sz="4300" b="1">
                <a:solidFill>
                  <a:srgbClr val="C27682"/>
                </a:solidFill>
              </a:defRPr>
            </a:pPr>
            <a:r>
              <a:t>alexa knows when the world will end &amp; says it’s </a:t>
            </a:r>
            <a:r>
              <a:rPr i="1"/>
              <a:t>when the sun swells</a:t>
            </a:r>
            <a:br>
              <a:rPr i="1"/>
            </a:br>
            <a:r>
              <a:rPr i="1"/>
              <a:t>into a red giant in several billion years’ time </a:t>
            </a:r>
            <a:r>
              <a:t>but she also floats the </a:t>
            </a:r>
            <a:br/>
            <a:r>
              <a:t>possibility that a future technology could go wrong which sound to </a:t>
            </a:r>
            <a:br/>
            <a:r>
              <a:t>me like a threat like alexageddon is only ever an next-day delivery away</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EC0C6"/>
        </a:solidFill>
        <a:effectLst/>
      </p:bgPr>
    </p:bg>
    <p:spTree>
      <p:nvGrpSpPr>
        <p:cNvPr id="1" name=""/>
        <p:cNvGrpSpPr/>
        <p:nvPr/>
      </p:nvGrpSpPr>
      <p:grpSpPr>
        <a:xfrm>
          <a:off x="0" y="0"/>
          <a:ext cx="0" cy="0"/>
          <a:chOff x="0" y="0"/>
          <a:chExt cx="0" cy="0"/>
        </a:xfrm>
      </p:grpSpPr>
      <p:sp>
        <p:nvSpPr>
          <p:cNvPr id="130" name="Water No. 2"/>
          <p:cNvSpPr txBox="1"/>
          <p:nvPr/>
        </p:nvSpPr>
        <p:spPr>
          <a:xfrm>
            <a:off x="8334111" y="6106318"/>
            <a:ext cx="7715778"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438176"/>
                </a:solidFill>
              </a:defRPr>
            </a:lvl1pPr>
          </a:lstStyle>
          <a:p>
            <a:r>
              <a:t>Water No. 2</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EC0C6"/>
        </a:solidFill>
        <a:effectLst/>
      </p:bgPr>
    </p:bg>
    <p:spTree>
      <p:nvGrpSpPr>
        <p:cNvPr id="1" name=""/>
        <p:cNvGrpSpPr/>
        <p:nvPr/>
      </p:nvGrpSpPr>
      <p:grpSpPr>
        <a:xfrm>
          <a:off x="0" y="0"/>
          <a:ext cx="0" cy="0"/>
          <a:chOff x="0" y="0"/>
          <a:chExt cx="0" cy="0"/>
        </a:xfrm>
      </p:grpSpPr>
      <p:sp>
        <p:nvSpPr>
          <p:cNvPr id="132" name="frogs dressed as twigs or leaves sit so still you cannot see them &amp; even though you look with your best eyes even switching off your ears you can only see a few sticks or scraps of green floating on the water &amp; just as you are about to give up one twitch"/>
          <p:cNvSpPr txBox="1">
            <a:spLocks noGrp="1"/>
          </p:cNvSpPr>
          <p:nvPr>
            <p:ph type="body" idx="4294967295"/>
          </p:nvPr>
        </p:nvSpPr>
        <p:spPr>
          <a:xfrm>
            <a:off x="2804566" y="2325737"/>
            <a:ext cx="18774868" cy="9064526"/>
          </a:xfrm>
          <a:prstGeom prst="rect">
            <a:avLst/>
          </a:prstGeom>
        </p:spPr>
        <p:txBody>
          <a:bodyPr anchor="ctr"/>
          <a:lstStyle/>
          <a:p>
            <a:pPr algn="l">
              <a:lnSpc>
                <a:spcPct val="150000"/>
              </a:lnSpc>
              <a:spcBef>
                <a:spcPts val="5900"/>
              </a:spcBef>
              <a:defRPr sz="4500" b="1">
                <a:solidFill>
                  <a:srgbClr val="438176"/>
                </a:solidFill>
              </a:defRPr>
            </a:pPr>
            <a:r>
              <a:t>frogs dressed as twigs or leaves sit so still you cannot see them</a:t>
            </a:r>
            <a:br/>
            <a:r>
              <a:t>&amp; even though you look with your best eyes even switching off your</a:t>
            </a:r>
            <a:br/>
            <a:r>
              <a:t>ears you can only see a few sticks or scraps of green floating on the</a:t>
            </a:r>
            <a:br/>
            <a:r>
              <a:t>water &amp; just as you are about to give up one twitches &amp; appears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84A55"/>
        </a:solidFill>
        <a:effectLst/>
      </p:bgPr>
    </p:bg>
    <p:spTree>
      <p:nvGrpSpPr>
        <p:cNvPr id="1" name=""/>
        <p:cNvGrpSpPr/>
        <p:nvPr/>
      </p:nvGrpSpPr>
      <p:grpSpPr>
        <a:xfrm>
          <a:off x="0" y="0"/>
          <a:ext cx="0" cy="0"/>
          <a:chOff x="0" y="0"/>
          <a:chExt cx="0" cy="0"/>
        </a:xfrm>
      </p:grpSpPr>
      <p:sp>
        <p:nvSpPr>
          <p:cNvPr id="134" name="Untitled, 1946"/>
          <p:cNvSpPr txBox="1"/>
          <p:nvPr/>
        </p:nvSpPr>
        <p:spPr>
          <a:xfrm>
            <a:off x="7661341" y="6106318"/>
            <a:ext cx="9061318"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CBCCC2"/>
                </a:solidFill>
              </a:defRPr>
            </a:lvl1pPr>
          </a:lstStyle>
          <a:p>
            <a:r>
              <a:t>Untitled, 1946</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84A55"/>
        </a:solidFill>
        <a:effectLst/>
      </p:bgPr>
    </p:bg>
    <p:spTree>
      <p:nvGrpSpPr>
        <p:cNvPr id="1" name=""/>
        <p:cNvGrpSpPr/>
        <p:nvPr/>
      </p:nvGrpSpPr>
      <p:grpSpPr>
        <a:xfrm>
          <a:off x="0" y="0"/>
          <a:ext cx="0" cy="0"/>
          <a:chOff x="0" y="0"/>
          <a:chExt cx="0" cy="0"/>
        </a:xfrm>
      </p:grpSpPr>
      <p:sp>
        <p:nvSpPr>
          <p:cNvPr id="136" name="underneath the pylon the humming is somehow quieter as if this place is sacrosanct like tombs in egypt their construction a mystery &amp; now an unseen energy quick-snaps a turquoise whip along the cables &amp; now a crow pauses to shout a bright red caw"/>
          <p:cNvSpPr txBox="1">
            <a:spLocks noGrp="1"/>
          </p:cNvSpPr>
          <p:nvPr>
            <p:ph type="body" idx="4294967295"/>
          </p:nvPr>
        </p:nvSpPr>
        <p:spPr>
          <a:xfrm>
            <a:off x="2804566" y="2325737"/>
            <a:ext cx="18774868" cy="9064526"/>
          </a:xfrm>
          <a:prstGeom prst="rect">
            <a:avLst/>
          </a:prstGeom>
        </p:spPr>
        <p:txBody>
          <a:bodyPr anchor="ctr"/>
          <a:lstStyle/>
          <a:p>
            <a:pPr algn="l">
              <a:lnSpc>
                <a:spcPct val="150000"/>
              </a:lnSpc>
              <a:spcBef>
                <a:spcPts val="5900"/>
              </a:spcBef>
              <a:defRPr sz="4600" b="1">
                <a:solidFill>
                  <a:srgbClr val="CBCCC2"/>
                </a:solidFill>
              </a:defRPr>
            </a:pPr>
            <a:r>
              <a:t>underneath the pylon the humming is somehow quieter as if</a:t>
            </a:r>
            <a:br/>
            <a:r>
              <a:t>this place is sacrosanct like tombs in egypt their construction</a:t>
            </a:r>
            <a:br/>
            <a:r>
              <a:t>a mystery &amp; now an unseen energy quick-snaps a turquoise whip</a:t>
            </a:r>
            <a:br/>
            <a:r>
              <a:t>along the cables &amp; now a crow pauses to shout a bright red caw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F0034"/>
        </a:solidFill>
        <a:effectLst/>
      </p:bgPr>
    </p:bg>
    <p:spTree>
      <p:nvGrpSpPr>
        <p:cNvPr id="1" name=""/>
        <p:cNvGrpSpPr/>
        <p:nvPr/>
      </p:nvGrpSpPr>
      <p:grpSpPr>
        <a:xfrm>
          <a:off x="0" y="0"/>
          <a:ext cx="0" cy="0"/>
          <a:chOff x="0" y="0"/>
          <a:chExt cx="0" cy="0"/>
        </a:xfrm>
      </p:grpSpPr>
      <p:sp>
        <p:nvSpPr>
          <p:cNvPr id="138" name="Three into Two"/>
          <p:cNvSpPr txBox="1"/>
          <p:nvPr/>
        </p:nvSpPr>
        <p:spPr>
          <a:xfrm>
            <a:off x="7319127" y="6106318"/>
            <a:ext cx="9745746"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E0A7A8"/>
                </a:solidFill>
              </a:defRPr>
            </a:lvl1pPr>
          </a:lstStyle>
          <a:p>
            <a:r>
              <a:t>Three into Two</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F0034"/>
        </a:solidFill>
        <a:effectLst/>
      </p:bgPr>
    </p:bg>
    <p:spTree>
      <p:nvGrpSpPr>
        <p:cNvPr id="1" name=""/>
        <p:cNvGrpSpPr/>
        <p:nvPr/>
      </p:nvGrpSpPr>
      <p:grpSpPr>
        <a:xfrm>
          <a:off x="0" y="0"/>
          <a:ext cx="0" cy="0"/>
          <a:chOff x="0" y="0"/>
          <a:chExt cx="0" cy="0"/>
        </a:xfrm>
      </p:grpSpPr>
      <p:sp>
        <p:nvSpPr>
          <p:cNvPr id="140" name="we’re all dying one second at a time she says as if she is a guru &amp; i nod but secretly think she is ridiculous &amp; has no idea what death is as it is not a slow creeping but the flat of a shovel hard in a soft face smiling despite it all"/>
          <p:cNvSpPr txBox="1">
            <a:spLocks noGrp="1"/>
          </p:cNvSpPr>
          <p:nvPr>
            <p:ph type="body" idx="4294967295"/>
          </p:nvPr>
        </p:nvSpPr>
        <p:spPr>
          <a:xfrm>
            <a:off x="3539728" y="2325737"/>
            <a:ext cx="17304544" cy="9064526"/>
          </a:xfrm>
          <a:prstGeom prst="rect">
            <a:avLst/>
          </a:prstGeom>
        </p:spPr>
        <p:txBody>
          <a:bodyPr anchor="ctr"/>
          <a:lstStyle/>
          <a:p>
            <a:pPr algn="l">
              <a:lnSpc>
                <a:spcPct val="150000"/>
              </a:lnSpc>
              <a:spcBef>
                <a:spcPts val="5900"/>
              </a:spcBef>
              <a:defRPr sz="4700" b="1" i="1">
                <a:solidFill>
                  <a:srgbClr val="E0A7A8"/>
                </a:solidFill>
              </a:defRPr>
            </a:pPr>
            <a:r>
              <a:t>we’re all dying one second at a time</a:t>
            </a:r>
            <a:r>
              <a:rPr i="0"/>
              <a:t> she says as if she</a:t>
            </a:r>
            <a:br>
              <a:rPr i="0"/>
            </a:br>
            <a:r>
              <a:rPr i="0"/>
              <a:t>is a guru &amp; i nod but secretly think she is ridiculous &amp;</a:t>
            </a:r>
            <a:br>
              <a:rPr i="0"/>
            </a:br>
            <a:r>
              <a:rPr i="0"/>
              <a:t>has no idea what death is as it is not a slow creeping but</a:t>
            </a:r>
            <a:br>
              <a:rPr i="0"/>
            </a:br>
            <a:r>
              <a:rPr i="0"/>
              <a:t>the flat of a shovel hard in a soft face smiling despite it all</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DFCF"/>
        </a:solidFill>
        <a:effectLst/>
      </p:bgPr>
    </p:bg>
    <p:spTree>
      <p:nvGrpSpPr>
        <p:cNvPr id="1" name=""/>
        <p:cNvGrpSpPr/>
        <p:nvPr/>
      </p:nvGrpSpPr>
      <p:grpSpPr>
        <a:xfrm>
          <a:off x="0" y="0"/>
          <a:ext cx="0" cy="0"/>
          <a:chOff x="0" y="0"/>
          <a:chExt cx="0" cy="0"/>
        </a:xfrm>
      </p:grpSpPr>
      <p:sp>
        <p:nvSpPr>
          <p:cNvPr id="142" name="Through the Blue"/>
          <p:cNvSpPr txBox="1"/>
          <p:nvPr/>
        </p:nvSpPr>
        <p:spPr>
          <a:xfrm>
            <a:off x="6517427" y="6106318"/>
            <a:ext cx="11349146"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322A56"/>
                </a:solidFill>
              </a:defRPr>
            </a:lvl1pPr>
          </a:lstStyle>
          <a:p>
            <a:r>
              <a:t>Through the Blue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DFCF"/>
        </a:solidFill>
        <a:effectLst/>
      </p:bgPr>
    </p:bg>
    <p:spTree>
      <p:nvGrpSpPr>
        <p:cNvPr id="1" name=""/>
        <p:cNvGrpSpPr/>
        <p:nvPr/>
      </p:nvGrpSpPr>
      <p:grpSpPr>
        <a:xfrm>
          <a:off x="0" y="0"/>
          <a:ext cx="0" cy="0"/>
          <a:chOff x="0" y="0"/>
          <a:chExt cx="0" cy="0"/>
        </a:xfrm>
      </p:grpSpPr>
      <p:sp>
        <p:nvSpPr>
          <p:cNvPr id="144" name="time has slowed now so each raindrop hard at the window  sounds like someone stamping the date in the front of a library book &amp; several minutes have now taken days to crawl by &amp;  these small hour cares put their fingers to their lips &amp; frown"/>
          <p:cNvSpPr txBox="1">
            <a:spLocks noGrp="1"/>
          </p:cNvSpPr>
          <p:nvPr>
            <p:ph type="body" idx="4294967295"/>
          </p:nvPr>
        </p:nvSpPr>
        <p:spPr>
          <a:xfrm>
            <a:off x="3173710" y="2325737"/>
            <a:ext cx="18036580" cy="9064526"/>
          </a:xfrm>
          <a:prstGeom prst="rect">
            <a:avLst/>
          </a:prstGeom>
        </p:spPr>
        <p:txBody>
          <a:bodyPr anchor="ctr"/>
          <a:lstStyle/>
          <a:p>
            <a:pPr algn="l">
              <a:lnSpc>
                <a:spcPct val="150000"/>
              </a:lnSpc>
              <a:spcBef>
                <a:spcPts val="5900"/>
              </a:spcBef>
              <a:defRPr sz="4700" b="1">
                <a:solidFill>
                  <a:srgbClr val="322A56"/>
                </a:solidFill>
              </a:defRPr>
            </a:pPr>
            <a:r>
              <a:t>time has slowed now so each raindrop hard at the window </a:t>
            </a:r>
            <a:br/>
            <a:r>
              <a:t>sounds like someone stamping the date in the front of a library</a:t>
            </a:r>
            <a:br/>
            <a:r>
              <a:t>book &amp; several minutes have now taken days to crawl by &amp; </a:t>
            </a:r>
            <a:br/>
            <a:r>
              <a:t>these small hour cares put their fingers to their lips &amp; frown</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3784B"/>
        </a:solidFill>
        <a:effectLst/>
      </p:bgPr>
    </p:bg>
    <p:spTree>
      <p:nvGrpSpPr>
        <p:cNvPr id="1" name=""/>
        <p:cNvGrpSpPr/>
        <p:nvPr/>
      </p:nvGrpSpPr>
      <p:grpSpPr>
        <a:xfrm>
          <a:off x="0" y="0"/>
          <a:ext cx="0" cy="0"/>
          <a:chOff x="0" y="0"/>
          <a:chExt cx="0" cy="0"/>
        </a:xfrm>
      </p:grpSpPr>
      <p:sp>
        <p:nvSpPr>
          <p:cNvPr id="146" name="Milkweed"/>
          <p:cNvSpPr txBox="1"/>
          <p:nvPr/>
        </p:nvSpPr>
        <p:spPr>
          <a:xfrm>
            <a:off x="8997965" y="6106318"/>
            <a:ext cx="6388070"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212B23"/>
                </a:solidFill>
              </a:defRPr>
            </a:lvl1pPr>
          </a:lstStyle>
          <a:p>
            <a:r>
              <a:t>Milkweed</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3784B"/>
        </a:solidFill>
        <a:effectLst/>
      </p:bgPr>
    </p:bg>
    <p:spTree>
      <p:nvGrpSpPr>
        <p:cNvPr id="1" name=""/>
        <p:cNvGrpSpPr/>
        <p:nvPr/>
      </p:nvGrpSpPr>
      <p:grpSpPr>
        <a:xfrm>
          <a:off x="0" y="0"/>
          <a:ext cx="0" cy="0"/>
          <a:chOff x="0" y="0"/>
          <a:chExt cx="0" cy="0"/>
        </a:xfrm>
      </p:grpSpPr>
      <p:sp>
        <p:nvSpPr>
          <p:cNvPr id="148" name="the atmosphere at luncheon is as thick as the gravy congealing in the sunday best jug but is suddenly &amp; viciously punctured by a judgemental forefinger as rigid as the back of the emergency chairs that he wrestled free from the depths of the garage befor"/>
          <p:cNvSpPr txBox="1">
            <a:spLocks noGrp="1"/>
          </p:cNvSpPr>
          <p:nvPr>
            <p:ph type="body" idx="4294967295"/>
          </p:nvPr>
        </p:nvSpPr>
        <p:spPr>
          <a:xfrm>
            <a:off x="2804566" y="2325737"/>
            <a:ext cx="18774868" cy="9064526"/>
          </a:xfrm>
          <a:prstGeom prst="rect">
            <a:avLst/>
          </a:prstGeom>
        </p:spPr>
        <p:txBody>
          <a:bodyPr anchor="ctr"/>
          <a:lstStyle/>
          <a:p>
            <a:pPr algn="l">
              <a:lnSpc>
                <a:spcPct val="150000"/>
              </a:lnSpc>
              <a:spcBef>
                <a:spcPts val="5900"/>
              </a:spcBef>
              <a:defRPr sz="4400" b="1">
                <a:solidFill>
                  <a:srgbClr val="212B23"/>
                </a:solidFill>
              </a:defRPr>
            </a:pPr>
            <a:r>
              <a:t>the atmosphere at luncheon is as thick as the gravy congealing in</a:t>
            </a:r>
            <a:br/>
            <a:r>
              <a:t>the sunday best jug but is suddenly &amp; viciously punctured by a</a:t>
            </a:r>
            <a:br/>
            <a:r>
              <a:t>judgemental forefinger as rigid as the back of the emergency chairs</a:t>
            </a:r>
            <a:br/>
            <a:r>
              <a:t>that he wrestled free from the depths of the garage before we arrived</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C988"/>
        </a:solidFill>
        <a:effectLst/>
      </p:bgPr>
    </p:bg>
    <p:spTree>
      <p:nvGrpSpPr>
        <p:cNvPr id="1" name=""/>
        <p:cNvGrpSpPr/>
        <p:nvPr/>
      </p:nvGrpSpPr>
      <p:grpSpPr>
        <a:xfrm>
          <a:off x="0" y="0"/>
          <a:ext cx="0" cy="0"/>
          <a:chOff x="0" y="0"/>
          <a:chExt cx="0" cy="0"/>
        </a:xfrm>
      </p:grpSpPr>
      <p:sp>
        <p:nvSpPr>
          <p:cNvPr id="150" name="Forest No. 2"/>
          <p:cNvSpPr txBox="1"/>
          <p:nvPr/>
        </p:nvSpPr>
        <p:spPr>
          <a:xfrm>
            <a:off x="8168147" y="6106318"/>
            <a:ext cx="8047706"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020927"/>
                </a:solidFill>
              </a:defRPr>
            </a:lvl1pPr>
          </a:lstStyle>
          <a:p>
            <a:r>
              <a:t>Forest No. 2</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C988"/>
        </a:solidFill>
        <a:effectLst/>
      </p:bgPr>
    </p:bg>
    <p:spTree>
      <p:nvGrpSpPr>
        <p:cNvPr id="1" name=""/>
        <p:cNvGrpSpPr/>
        <p:nvPr/>
      </p:nvGrpSpPr>
      <p:grpSpPr>
        <a:xfrm>
          <a:off x="0" y="0"/>
          <a:ext cx="0" cy="0"/>
          <a:chOff x="0" y="0"/>
          <a:chExt cx="0" cy="0"/>
        </a:xfrm>
      </p:grpSpPr>
      <p:sp>
        <p:nvSpPr>
          <p:cNvPr id="152" name="the fawn is too young to know to run but her mother understands  my accidental interruption for the hard life lesson it might be &amp;  zigzags into the trees feet flashing prayers like breadcrumbs for her spindly facsimile who just gazes at me frank &amp; unper"/>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700" b="1">
                <a:solidFill>
                  <a:srgbClr val="020927"/>
                </a:solidFill>
              </a:defRPr>
            </a:pPr>
            <a:r>
              <a:t>the fawn is too young to know to run but her mother understands </a:t>
            </a:r>
            <a:br/>
            <a:r>
              <a:t>my accidental interruption for the hard life lesson it might be &amp; </a:t>
            </a:r>
            <a:br/>
            <a:r>
              <a:t>zigzags into the trees feet flashing prayers like breadcrumbs for</a:t>
            </a:r>
            <a:br/>
            <a:r>
              <a:t>her spindly facsimile who just gazes at me frank &amp; unperturbed</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B5E78"/>
        </a:solidFill>
        <a:effectLst/>
      </p:bgPr>
    </p:bg>
    <p:spTree>
      <p:nvGrpSpPr>
        <p:cNvPr id="1" name=""/>
        <p:cNvGrpSpPr/>
        <p:nvPr/>
      </p:nvGrpSpPr>
      <p:grpSpPr>
        <a:xfrm>
          <a:off x="0" y="0"/>
          <a:ext cx="0" cy="0"/>
          <a:chOff x="0" y="0"/>
          <a:chExt cx="0" cy="0"/>
        </a:xfrm>
      </p:grpSpPr>
      <p:sp>
        <p:nvSpPr>
          <p:cNvPr id="154" name="Night Light"/>
          <p:cNvSpPr txBox="1"/>
          <p:nvPr/>
        </p:nvSpPr>
        <p:spPr>
          <a:xfrm>
            <a:off x="8538479" y="6106318"/>
            <a:ext cx="7307042"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FEFED2"/>
                </a:solidFill>
              </a:defRPr>
            </a:lvl1pPr>
          </a:lstStyle>
          <a:p>
            <a:r>
              <a:t>Night Light</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B5E78"/>
        </a:solidFill>
        <a:effectLst/>
      </p:bgPr>
    </p:bg>
    <p:spTree>
      <p:nvGrpSpPr>
        <p:cNvPr id="1" name=""/>
        <p:cNvGrpSpPr/>
        <p:nvPr/>
      </p:nvGrpSpPr>
      <p:grpSpPr>
        <a:xfrm>
          <a:off x="0" y="0"/>
          <a:ext cx="0" cy="0"/>
          <a:chOff x="0" y="0"/>
          <a:chExt cx="0" cy="0"/>
        </a:xfrm>
      </p:grpSpPr>
      <p:sp>
        <p:nvSpPr>
          <p:cNvPr id="156" name="i want a picture taken at the very start of the universe that looks how everything looks when you stare up into the night sky in a snowstorm &amp; wonder at how deep-blue-black it is in the countryside compared to the dull-grey-orange in the city you know lo"/>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500" b="1">
                <a:solidFill>
                  <a:srgbClr val="FEFED2"/>
                </a:solidFill>
              </a:defRPr>
            </a:pPr>
            <a:r>
              <a:t>i want a picture taken at the very start of the universe that looks</a:t>
            </a:r>
            <a:br/>
            <a:r>
              <a:t>how everything looks when you stare up into the night sky in a</a:t>
            </a:r>
            <a:br/>
            <a:r>
              <a:t>snowstorm &amp; wonder at how deep-blue-black it is in the countryside</a:t>
            </a:r>
            <a:br/>
            <a:r>
              <a:t>compared to the dull-grey-orange in the city you know longer love</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6832"/>
        </a:solidFill>
        <a:effectLst/>
      </p:bgPr>
    </p:bg>
    <p:spTree>
      <p:nvGrpSpPr>
        <p:cNvPr id="1" name=""/>
        <p:cNvGrpSpPr/>
        <p:nvPr/>
      </p:nvGrpSpPr>
      <p:grpSpPr>
        <a:xfrm>
          <a:off x="0" y="0"/>
          <a:ext cx="0" cy="0"/>
          <a:chOff x="0" y="0"/>
          <a:chExt cx="0" cy="0"/>
        </a:xfrm>
      </p:grpSpPr>
      <p:sp>
        <p:nvSpPr>
          <p:cNvPr id="158" name="Portrait in Green"/>
          <p:cNvSpPr txBox="1"/>
          <p:nvPr/>
        </p:nvSpPr>
        <p:spPr>
          <a:xfrm>
            <a:off x="6734825" y="6106318"/>
            <a:ext cx="10914350" cy="173107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00DC9A"/>
                </a:solidFill>
              </a:defRPr>
            </a:lvl1pPr>
          </a:lstStyle>
          <a:p>
            <a:r>
              <a:t>Portrait in Green</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6832"/>
        </a:solidFill>
        <a:effectLst/>
      </p:bgPr>
    </p:bg>
    <p:spTree>
      <p:nvGrpSpPr>
        <p:cNvPr id="1" name=""/>
        <p:cNvGrpSpPr/>
        <p:nvPr/>
      </p:nvGrpSpPr>
      <p:grpSpPr>
        <a:xfrm>
          <a:off x="0" y="0"/>
          <a:ext cx="0" cy="0"/>
          <a:chOff x="0" y="0"/>
          <a:chExt cx="0" cy="0"/>
        </a:xfrm>
      </p:grpSpPr>
      <p:sp>
        <p:nvSpPr>
          <p:cNvPr id="160" name="the human eye seeks the human form in everything in the curtains in your bedroom when you were a child the foam on your latte or the stars &amp; often that face is the face of jesus christ one of the beatles or shakespeare and they are all straight white men"/>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100" b="1">
                <a:solidFill>
                  <a:srgbClr val="00DC9A"/>
                </a:solidFill>
              </a:defRPr>
            </a:pPr>
            <a:r>
              <a:t>the human eye seeks the human form in everything in the curtains in your</a:t>
            </a:r>
            <a:br/>
            <a:r>
              <a:t>bedroom when you were a child the foam on your latte or the stars</a:t>
            </a:r>
            <a:br/>
            <a:r>
              <a:t>&amp; often that face is the face of jesus christ one of the beatles or shakespeare and they are all straight white men except jesus but shhh</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2855D"/>
        </a:solidFill>
        <a:effectLst/>
      </p:bgPr>
    </p:bg>
    <p:spTree>
      <p:nvGrpSpPr>
        <p:cNvPr id="1" name=""/>
        <p:cNvGrpSpPr/>
        <p:nvPr/>
      </p:nvGrpSpPr>
      <p:grpSpPr>
        <a:xfrm>
          <a:off x="0" y="0"/>
          <a:ext cx="0" cy="0"/>
          <a:chOff x="0" y="0"/>
          <a:chExt cx="0" cy="0"/>
        </a:xfrm>
      </p:grpSpPr>
      <p:sp>
        <p:nvSpPr>
          <p:cNvPr id="162" name="Assault on the Solar Plexus"/>
          <p:cNvSpPr txBox="1"/>
          <p:nvPr/>
        </p:nvSpPr>
        <p:spPr>
          <a:xfrm>
            <a:off x="3204327" y="5992464"/>
            <a:ext cx="17975346"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EBEEDB"/>
                </a:solidFill>
              </a:defRPr>
            </a:lvl1pPr>
          </a:lstStyle>
          <a:p>
            <a:r>
              <a:t>Assault on the Solar Plexus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A2855D"/>
        </a:solidFill>
        <a:effectLst/>
      </p:bgPr>
    </p:bg>
    <p:spTree>
      <p:nvGrpSpPr>
        <p:cNvPr id="1" name=""/>
        <p:cNvGrpSpPr/>
        <p:nvPr/>
      </p:nvGrpSpPr>
      <p:grpSpPr>
        <a:xfrm>
          <a:off x="0" y="0"/>
          <a:ext cx="0" cy="0"/>
          <a:chOff x="0" y="0"/>
          <a:chExt cx="0" cy="0"/>
        </a:xfrm>
      </p:grpSpPr>
      <p:sp>
        <p:nvSpPr>
          <p:cNvPr id="164" name="like the fur of a marmalade tiger burnt umber by age watching as an antelope drinks from the stream &amp; seems to be oblivious but all the while each individual hair on each individual vertebra is like an antenna picking up every single alarm sounding in th"/>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500" b="1">
                <a:solidFill>
                  <a:srgbClr val="EBEEDB"/>
                </a:solidFill>
              </a:defRPr>
            </a:pPr>
            <a:r>
              <a:t>like the fur of a marmalade tiger burnt umber by age watching</a:t>
            </a:r>
            <a:br/>
            <a:r>
              <a:t>as an antelope drinks from the stream &amp; seems to be oblivious</a:t>
            </a:r>
            <a:br/>
            <a:r>
              <a:t>but all the while each individual hair on each individual vertebra</a:t>
            </a:r>
            <a:br/>
            <a:r>
              <a:t>is like an antenna picking up every single alarm sounding in the air</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401B"/>
        </a:solidFill>
        <a:effectLst/>
      </p:bgPr>
    </p:bg>
    <p:spTree>
      <p:nvGrpSpPr>
        <p:cNvPr id="1" name=""/>
        <p:cNvGrpSpPr/>
        <p:nvPr/>
      </p:nvGrpSpPr>
      <p:grpSpPr>
        <a:xfrm>
          <a:off x="0" y="0"/>
          <a:ext cx="0" cy="0"/>
          <a:chOff x="0" y="0"/>
          <a:chExt cx="0" cy="0"/>
        </a:xfrm>
      </p:grpSpPr>
      <p:sp>
        <p:nvSpPr>
          <p:cNvPr id="166" name="Abstract No. 2"/>
          <p:cNvSpPr txBox="1"/>
          <p:nvPr/>
        </p:nvSpPr>
        <p:spPr>
          <a:xfrm>
            <a:off x="7457659" y="5992464"/>
            <a:ext cx="9468682"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E4B600"/>
                </a:solidFill>
              </a:defRPr>
            </a:lvl1pPr>
          </a:lstStyle>
          <a:p>
            <a:r>
              <a:t>Abstract No. 2</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401B"/>
        </a:solidFill>
        <a:effectLst/>
      </p:bgPr>
    </p:bg>
    <p:spTree>
      <p:nvGrpSpPr>
        <p:cNvPr id="1" name=""/>
        <p:cNvGrpSpPr/>
        <p:nvPr/>
      </p:nvGrpSpPr>
      <p:grpSpPr>
        <a:xfrm>
          <a:off x="0" y="0"/>
          <a:ext cx="0" cy="0"/>
          <a:chOff x="0" y="0"/>
          <a:chExt cx="0" cy="0"/>
        </a:xfrm>
      </p:grpSpPr>
      <p:sp>
        <p:nvSpPr>
          <p:cNvPr id="168" name="how about if we go up to the top of a hill not far from here &amp; wait until the middle of the night then roll all the way down so fast that when we stagger to our feet &amp; look up into the stars they are all dancing even though or perhaps because they are al"/>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600" b="1">
                <a:solidFill>
                  <a:srgbClr val="E4B600"/>
                </a:solidFill>
              </a:defRPr>
            </a:pPr>
            <a:r>
              <a:t>how about if we go up to the top of a hill not far from here &amp;</a:t>
            </a:r>
            <a:br/>
            <a:r>
              <a:t>wait until the middle of the night then roll all the way down so fast</a:t>
            </a:r>
            <a:br/>
            <a:r>
              <a:t>that when we stagger to our feet &amp; look up into the stars they are</a:t>
            </a:r>
            <a:br/>
            <a:r>
              <a:t>all dancing even though or perhaps because they are already dead</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678AD"/>
        </a:solidFill>
        <a:effectLst/>
      </p:bgPr>
    </p:bg>
    <p:spTree>
      <p:nvGrpSpPr>
        <p:cNvPr id="1" name=""/>
        <p:cNvGrpSpPr/>
        <p:nvPr/>
      </p:nvGrpSpPr>
      <p:grpSpPr>
        <a:xfrm>
          <a:off x="0" y="0"/>
          <a:ext cx="0" cy="0"/>
          <a:chOff x="0" y="0"/>
          <a:chExt cx="0" cy="0"/>
        </a:xfrm>
      </p:grpSpPr>
      <p:sp>
        <p:nvSpPr>
          <p:cNvPr id="170" name="Desert Moon"/>
          <p:cNvSpPr txBox="1"/>
          <p:nvPr/>
        </p:nvSpPr>
        <p:spPr>
          <a:xfrm>
            <a:off x="7902743" y="5992464"/>
            <a:ext cx="8578514"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D72500"/>
                </a:solidFill>
              </a:defRPr>
            </a:lvl1pPr>
          </a:lstStyle>
          <a:p>
            <a:r>
              <a:t>Desert Moon</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678AD"/>
        </a:solidFill>
        <a:effectLst/>
      </p:bgPr>
    </p:bg>
    <p:spTree>
      <p:nvGrpSpPr>
        <p:cNvPr id="1" name=""/>
        <p:cNvGrpSpPr/>
        <p:nvPr/>
      </p:nvGrpSpPr>
      <p:grpSpPr>
        <a:xfrm>
          <a:off x="0" y="0"/>
          <a:ext cx="0" cy="0"/>
          <a:chOff x="0" y="0"/>
          <a:chExt cx="0" cy="0"/>
        </a:xfrm>
      </p:grpSpPr>
      <p:sp>
        <p:nvSpPr>
          <p:cNvPr id="172" name="they are plotting now in the kitchen over the boiling kettle spoons hovering over the instant coffee jar besides the white sugar cubes stolen from the canteen at the factory &amp; this means sometimes pocket fluff floats in your hot drink like a cruel taunt "/>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300" b="1">
                <a:solidFill>
                  <a:srgbClr val="D72500"/>
                </a:solidFill>
              </a:defRPr>
            </a:pPr>
            <a:r>
              <a:t>they are plotting now in the kitchen over the boiling kettle spoons</a:t>
            </a:r>
            <a:br/>
            <a:r>
              <a:t>hovering over the instant coffee jar besides the white sugar cubes</a:t>
            </a:r>
            <a:br/>
            <a:r>
              <a:t>stolen from the canteen at the factory &amp; this means sometimes pocket</a:t>
            </a:r>
            <a:br/>
            <a:r>
              <a:t>fluff floats in your hot drink like a cruel taunt lurking in small talk</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5CB32"/>
        </a:solidFill>
        <a:effectLst/>
      </p:bgPr>
    </p:bg>
    <p:spTree>
      <p:nvGrpSpPr>
        <p:cNvPr id="1" name=""/>
        <p:cNvGrpSpPr/>
        <p:nvPr/>
      </p:nvGrpSpPr>
      <p:grpSpPr>
        <a:xfrm>
          <a:off x="0" y="0"/>
          <a:ext cx="0" cy="0"/>
          <a:chOff x="0" y="0"/>
          <a:chExt cx="0" cy="0"/>
        </a:xfrm>
      </p:grpSpPr>
      <p:sp>
        <p:nvSpPr>
          <p:cNvPr id="174" name="Untitled, 1947"/>
          <p:cNvSpPr txBox="1"/>
          <p:nvPr/>
        </p:nvSpPr>
        <p:spPr>
          <a:xfrm>
            <a:off x="7661341" y="5992464"/>
            <a:ext cx="9061318"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125573"/>
                </a:solidFill>
              </a:defRPr>
            </a:lvl1pPr>
          </a:lstStyle>
          <a:p>
            <a:r>
              <a:t>Untitled, 1947</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5CB32"/>
        </a:solidFill>
        <a:effectLst/>
      </p:bgPr>
    </p:bg>
    <p:spTree>
      <p:nvGrpSpPr>
        <p:cNvPr id="1" name=""/>
        <p:cNvGrpSpPr/>
        <p:nvPr/>
      </p:nvGrpSpPr>
      <p:grpSpPr>
        <a:xfrm>
          <a:off x="0" y="0"/>
          <a:ext cx="0" cy="0"/>
          <a:chOff x="0" y="0"/>
          <a:chExt cx="0" cy="0"/>
        </a:xfrm>
      </p:grpSpPr>
      <p:sp>
        <p:nvSpPr>
          <p:cNvPr id="176" name="day-dull moth are suddenly night-bright as their frantic ballet fizzes against walls &amp; lampshades with a robust commitment  lacking in butterflies who although often beautiful are made of  sherbet &amp; bits of old cotton that used to fix buttons to a rainco"/>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700" b="1">
                <a:solidFill>
                  <a:srgbClr val="125573"/>
                </a:solidFill>
              </a:defRPr>
            </a:pPr>
            <a:r>
              <a:t>day-dull moth are suddenly night-bright as their frantic ballet</a:t>
            </a:r>
            <a:br/>
            <a:r>
              <a:t>fizzes against walls &amp; lampshades with a robust commitment </a:t>
            </a:r>
            <a:br/>
            <a:r>
              <a:t>lacking in butterflies who although often beautiful are made of </a:t>
            </a:r>
            <a:br/>
            <a:r>
              <a:t>sherbet &amp; bits of old cotton that used to fix buttons to a raincoat</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43646C"/>
        </a:solidFill>
        <a:effectLst/>
      </p:bgPr>
    </p:bg>
    <p:spTree>
      <p:nvGrpSpPr>
        <p:cNvPr id="1" name=""/>
        <p:cNvGrpSpPr/>
        <p:nvPr/>
      </p:nvGrpSpPr>
      <p:grpSpPr>
        <a:xfrm>
          <a:off x="0" y="0"/>
          <a:ext cx="0" cy="0"/>
          <a:chOff x="0" y="0"/>
          <a:chExt cx="0" cy="0"/>
        </a:xfrm>
      </p:grpSpPr>
      <p:sp>
        <p:nvSpPr>
          <p:cNvPr id="178" name="Composition"/>
          <p:cNvSpPr txBox="1"/>
          <p:nvPr/>
        </p:nvSpPr>
        <p:spPr>
          <a:xfrm>
            <a:off x="7956235" y="5992464"/>
            <a:ext cx="8471530"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709E37"/>
                </a:solidFill>
              </a:defRPr>
            </a:lvl1pPr>
          </a:lstStyle>
          <a:p>
            <a:r>
              <a:t>Composition</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43646C"/>
        </a:solidFill>
        <a:effectLst/>
      </p:bgPr>
    </p:bg>
    <p:spTree>
      <p:nvGrpSpPr>
        <p:cNvPr id="1" name=""/>
        <p:cNvGrpSpPr/>
        <p:nvPr/>
      </p:nvGrpSpPr>
      <p:grpSpPr>
        <a:xfrm>
          <a:off x="0" y="0"/>
          <a:ext cx="0" cy="0"/>
          <a:chOff x="0" y="0"/>
          <a:chExt cx="0" cy="0"/>
        </a:xfrm>
      </p:grpSpPr>
      <p:sp>
        <p:nvSpPr>
          <p:cNvPr id="180" name="what are we trying to convince ourselves of? I am not much for mantras not much for the endless repetition of a chain of words that don’t go anywhere just hang like garlic bulbs around the neck of  a cartoon cat wearing a stripy jumper, a beret &amp; a thin "/>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400" b="1">
                <a:solidFill>
                  <a:srgbClr val="709E37"/>
                </a:solidFill>
              </a:defRPr>
            </a:pPr>
            <a:r>
              <a:t>what are we trying to convince ourselves of? I am not much</a:t>
            </a:r>
            <a:br/>
            <a:r>
              <a:t>for mantras not much for the endless repetition of a chain of words</a:t>
            </a:r>
            <a:br/>
            <a:r>
              <a:t>that don’t go anywhere just hang like garlic bulbs around the neck of </a:t>
            </a:r>
            <a:br/>
            <a:r>
              <a:t>a cartoon cat wearing a stripy jumper, a beret &amp; a thin moustache</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48B2"/>
        </a:solidFill>
        <a:effectLst/>
      </p:bgPr>
    </p:bg>
    <p:spTree>
      <p:nvGrpSpPr>
        <p:cNvPr id="1" name=""/>
        <p:cNvGrpSpPr/>
        <p:nvPr/>
      </p:nvGrpSpPr>
      <p:grpSpPr>
        <a:xfrm>
          <a:off x="0" y="0"/>
          <a:ext cx="0" cy="0"/>
          <a:chOff x="0" y="0"/>
          <a:chExt cx="0" cy="0"/>
        </a:xfrm>
      </p:grpSpPr>
      <p:sp>
        <p:nvSpPr>
          <p:cNvPr id="182" name="Blue Level"/>
          <p:cNvSpPr txBox="1"/>
          <p:nvPr/>
        </p:nvSpPr>
        <p:spPr>
          <a:xfrm>
            <a:off x="8753821" y="5992464"/>
            <a:ext cx="6876358"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F66903"/>
                </a:solidFill>
              </a:defRPr>
            </a:lvl1pPr>
          </a:lstStyle>
          <a:p>
            <a:r>
              <a:t>Blue Level</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48B2"/>
        </a:solidFill>
        <a:effectLst/>
      </p:bgPr>
    </p:bg>
    <p:spTree>
      <p:nvGrpSpPr>
        <p:cNvPr id="1" name=""/>
        <p:cNvGrpSpPr/>
        <p:nvPr/>
      </p:nvGrpSpPr>
      <p:grpSpPr>
        <a:xfrm>
          <a:off x="0" y="0"/>
          <a:ext cx="0" cy="0"/>
          <a:chOff x="0" y="0"/>
          <a:chExt cx="0" cy="0"/>
        </a:xfrm>
      </p:grpSpPr>
      <p:sp>
        <p:nvSpPr>
          <p:cNvPr id="184" name="i see the shapes of their moving bodies dance in the patterned glass panels in the closed door &amp; although i can not hear what they are saying the tone is the one that people use then they are whispering while waiting for poirot to point out the killer an"/>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200" b="1">
                <a:solidFill>
                  <a:srgbClr val="F66903"/>
                </a:solidFill>
              </a:defRPr>
            </a:pPr>
            <a:r>
              <a:t>i see the shapes of their moving bodies dance in the patterned glass</a:t>
            </a:r>
            <a:br/>
            <a:r>
              <a:t>panels in the closed door &amp; although i can not hear what they are saying</a:t>
            </a:r>
            <a:br/>
            <a:r>
              <a:t>the tone is the one that people use then they are whispering</a:t>
            </a:r>
            <a:br/>
            <a:r>
              <a:t>while waiting for poirot to point out the killer and the killer is me</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5C3E38"/>
        </a:solidFill>
        <a:effectLst/>
      </p:bgPr>
    </p:bg>
    <p:spTree>
      <p:nvGrpSpPr>
        <p:cNvPr id="1" name=""/>
        <p:cNvGrpSpPr/>
        <p:nvPr/>
      </p:nvGrpSpPr>
      <p:grpSpPr>
        <a:xfrm>
          <a:off x="0" y="0"/>
          <a:ext cx="0" cy="0"/>
          <a:chOff x="0" y="0"/>
          <a:chExt cx="0" cy="0"/>
        </a:xfrm>
      </p:grpSpPr>
      <p:sp>
        <p:nvSpPr>
          <p:cNvPr id="186" name="The Eye is the First Circle"/>
          <p:cNvSpPr txBox="1"/>
          <p:nvPr/>
        </p:nvSpPr>
        <p:spPr>
          <a:xfrm>
            <a:off x="3814689" y="5992464"/>
            <a:ext cx="16754622"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CDAB76"/>
                </a:solidFill>
              </a:defRPr>
            </a:lvl1pPr>
          </a:lstStyle>
          <a:p>
            <a:r>
              <a:t>The Eye is the First Circle</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5C3E38"/>
        </a:solidFill>
        <a:effectLst/>
      </p:bgPr>
    </p:bg>
    <p:spTree>
      <p:nvGrpSpPr>
        <p:cNvPr id="1" name=""/>
        <p:cNvGrpSpPr/>
        <p:nvPr/>
      </p:nvGrpSpPr>
      <p:grpSpPr>
        <a:xfrm>
          <a:off x="0" y="0"/>
          <a:ext cx="0" cy="0"/>
          <a:chOff x="0" y="0"/>
          <a:chExt cx="0" cy="0"/>
        </a:xfrm>
      </p:grpSpPr>
      <p:sp>
        <p:nvSpPr>
          <p:cNvPr id="188" name="the cold of a desert at night is clean &amp; crisp like fresh lettuce bright leaves torn into salad &amp; when darkness falls it lands soft as the tiger padding on the neck of that antelope no longer thirsty for water but now in need of a simple breath of warm a"/>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400" b="1">
                <a:solidFill>
                  <a:srgbClr val="CDAB76"/>
                </a:solidFill>
              </a:defRPr>
            </a:pPr>
            <a:r>
              <a:t>the cold of a desert at night is clean &amp; crisp like fresh lettuce</a:t>
            </a:r>
            <a:br/>
            <a:r>
              <a:t>bright leaves torn into salad &amp; when darkness falls it lands soft</a:t>
            </a:r>
            <a:br/>
            <a:r>
              <a:t>as the tiger padding on the neck of that antelope no longer thirsty</a:t>
            </a:r>
            <a:br/>
            <a:r>
              <a:t>for water but now in need of a simple breath of warm afternoon air</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98F9A"/>
        </a:solidFill>
        <a:effectLst/>
      </p:bgPr>
    </p:bg>
    <p:spTree>
      <p:nvGrpSpPr>
        <p:cNvPr id="1" name=""/>
        <p:cNvGrpSpPr/>
        <p:nvPr/>
      </p:nvGrpSpPr>
      <p:grpSpPr>
        <a:xfrm>
          <a:off x="0" y="0"/>
          <a:ext cx="0" cy="0"/>
          <a:chOff x="0" y="0"/>
          <a:chExt cx="0" cy="0"/>
        </a:xfrm>
      </p:grpSpPr>
      <p:sp>
        <p:nvSpPr>
          <p:cNvPr id="190" name="Another Storm"/>
          <p:cNvSpPr txBox="1"/>
          <p:nvPr/>
        </p:nvSpPr>
        <p:spPr>
          <a:xfrm>
            <a:off x="7343816" y="5992464"/>
            <a:ext cx="9696368"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BA003A"/>
                </a:solidFill>
              </a:defRPr>
            </a:lvl1pPr>
          </a:lstStyle>
          <a:p>
            <a:r>
              <a:t>Another Storm</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D98F9A"/>
        </a:solidFill>
        <a:effectLst/>
      </p:bgPr>
    </p:bg>
    <p:spTree>
      <p:nvGrpSpPr>
        <p:cNvPr id="1" name=""/>
        <p:cNvGrpSpPr/>
        <p:nvPr/>
      </p:nvGrpSpPr>
      <p:grpSpPr>
        <a:xfrm>
          <a:off x="0" y="0"/>
          <a:ext cx="0" cy="0"/>
          <a:chOff x="0" y="0"/>
          <a:chExt cx="0" cy="0"/>
        </a:xfrm>
      </p:grpSpPr>
      <p:sp>
        <p:nvSpPr>
          <p:cNvPr id="192" name="i am human (so far as a know) so no one looks at me and goes burger possibly pie moussaka maybe or look! a meat cylinder wrapped in a  kind of artificial skin with neat knots tied in each end which suggest that it used to be part of a long string oddly r"/>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400" b="1">
                <a:solidFill>
                  <a:srgbClr val="BA003A"/>
                </a:solidFill>
              </a:defRPr>
            </a:pPr>
            <a:r>
              <a:t>i am human (so far as a know) so no one looks at me and goes burger</a:t>
            </a:r>
            <a:br/>
            <a:r>
              <a:t>possibly pie moussaka maybe or look! a meat cylinder wrapped in a </a:t>
            </a:r>
            <a:br/>
            <a:r>
              <a:t>kind of artificial skin with neat knots tied in each end which suggest</a:t>
            </a:r>
            <a:br/>
            <a:r>
              <a:t>that it used to be part of a long string oddly reminiscent of intestines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A00D6"/>
        </a:solidFill>
        <a:effectLst/>
      </p:bgPr>
    </p:bg>
    <p:spTree>
      <p:nvGrpSpPr>
        <p:cNvPr id="1" name=""/>
        <p:cNvGrpSpPr/>
        <p:nvPr/>
      </p:nvGrpSpPr>
      <p:grpSpPr>
        <a:xfrm>
          <a:off x="0" y="0"/>
          <a:ext cx="0" cy="0"/>
          <a:chOff x="0" y="0"/>
          <a:chExt cx="0" cy="0"/>
        </a:xfrm>
      </p:grpSpPr>
      <p:sp>
        <p:nvSpPr>
          <p:cNvPr id="194" name="Shellflower"/>
          <p:cNvSpPr txBox="1"/>
          <p:nvPr/>
        </p:nvSpPr>
        <p:spPr>
          <a:xfrm>
            <a:off x="8476072" y="5992464"/>
            <a:ext cx="7431857"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F80000"/>
                </a:solidFill>
              </a:defRPr>
            </a:lvl1pPr>
          </a:lstStyle>
          <a:p>
            <a:r>
              <a:t>Shellflower</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2A00D6"/>
        </a:solidFill>
        <a:effectLst/>
      </p:bgPr>
    </p:bg>
    <p:spTree>
      <p:nvGrpSpPr>
        <p:cNvPr id="1" name=""/>
        <p:cNvGrpSpPr/>
        <p:nvPr/>
      </p:nvGrpSpPr>
      <p:grpSpPr>
        <a:xfrm>
          <a:off x="0" y="0"/>
          <a:ext cx="0" cy="0"/>
          <a:chOff x="0" y="0"/>
          <a:chExt cx="0" cy="0"/>
        </a:xfrm>
      </p:grpSpPr>
      <p:sp>
        <p:nvSpPr>
          <p:cNvPr id="196" name="the old tiger is ready to leap into the sky &amp; let its claws drag cloudy nebula into neat lines as if that will somehow order the heavens &amp; that influence will make sense of all the lives this teaming planet struggles to hold safe until the red giant come"/>
          <p:cNvSpPr txBox="1">
            <a:spLocks noGrp="1"/>
          </p:cNvSpPr>
          <p:nvPr>
            <p:ph type="body" idx="4294967295"/>
          </p:nvPr>
        </p:nvSpPr>
        <p:spPr>
          <a:xfrm>
            <a:off x="3165326" y="2325737"/>
            <a:ext cx="18053348" cy="9064526"/>
          </a:xfrm>
          <a:prstGeom prst="rect">
            <a:avLst/>
          </a:prstGeom>
        </p:spPr>
        <p:txBody>
          <a:bodyPr anchor="ctr"/>
          <a:lstStyle/>
          <a:p>
            <a:pPr algn="l">
              <a:lnSpc>
                <a:spcPct val="150000"/>
              </a:lnSpc>
              <a:spcBef>
                <a:spcPts val="5900"/>
              </a:spcBef>
              <a:defRPr sz="4700" b="1">
                <a:solidFill>
                  <a:srgbClr val="F80000"/>
                </a:solidFill>
              </a:defRPr>
            </a:pPr>
            <a:r>
              <a:t>the old tiger is ready to leap into the sky &amp; let its claws drag</a:t>
            </a:r>
            <a:br/>
            <a:r>
              <a:t>cloudy nebula into neat lines as if that will somehow order the</a:t>
            </a:r>
            <a:br/>
            <a:r>
              <a:t>heavens &amp; that influence will make sense of all the lives this</a:t>
            </a:r>
            <a:br/>
            <a:r>
              <a:t>teaming planet struggles to hold safe until the red giant comes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DACCB4"/>
        </a:solidFill>
        <a:effectLst/>
      </p:bgPr>
    </p:bg>
    <p:spTree>
      <p:nvGrpSpPr>
        <p:cNvPr id="1" name=""/>
        <p:cNvGrpSpPr/>
        <p:nvPr/>
      </p:nvGrpSpPr>
      <p:grpSpPr>
        <a:xfrm>
          <a:off x="0" y="0"/>
          <a:ext cx="0" cy="0"/>
          <a:chOff x="0" y="0"/>
          <a:chExt cx="0" cy="0"/>
        </a:xfrm>
      </p:grpSpPr>
      <p:sp>
        <p:nvSpPr>
          <p:cNvPr id="198" name="Polar Stampede"/>
          <p:cNvSpPr txBox="1"/>
          <p:nvPr/>
        </p:nvSpPr>
        <p:spPr>
          <a:xfrm>
            <a:off x="6900789" y="5992464"/>
            <a:ext cx="10582422" cy="173107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3578" tIns="53578" rIns="53578" bIns="53578" anchor="ctr">
            <a:spAutoFit/>
          </a:bodyPr>
          <a:lstStyle>
            <a:lvl1pPr>
              <a:defRPr sz="10800">
                <a:solidFill>
                  <a:srgbClr val="423130"/>
                </a:solidFill>
              </a:defRPr>
            </a:lvl1pPr>
          </a:lstStyle>
          <a:p>
            <a:r>
              <a:t>Polar Stampede</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ACCB4"/>
        </a:solidFill>
        <a:effectLst/>
      </p:bgPr>
    </p:bg>
    <p:spTree>
      <p:nvGrpSpPr>
        <p:cNvPr id="1" name=""/>
        <p:cNvGrpSpPr/>
        <p:nvPr/>
      </p:nvGrpSpPr>
      <p:grpSpPr>
        <a:xfrm>
          <a:off x="0" y="0"/>
          <a:ext cx="0" cy="0"/>
          <a:chOff x="0" y="0"/>
          <a:chExt cx="0" cy="0"/>
        </a:xfrm>
      </p:grpSpPr>
      <p:sp>
        <p:nvSpPr>
          <p:cNvPr id="200" name="&amp; suddenly all the elements of the day as I have remembered it begin to plummet from the floor to the ceiling bolt-upwards as if all the gravity &amp; the world are nothing more than one end of an hour glass that someone has turned over while boiling an egg"/>
          <p:cNvSpPr txBox="1">
            <a:spLocks noGrp="1"/>
          </p:cNvSpPr>
          <p:nvPr>
            <p:ph type="body" idx="4294967295"/>
          </p:nvPr>
        </p:nvSpPr>
        <p:spPr>
          <a:xfrm>
            <a:off x="2829024" y="2325737"/>
            <a:ext cx="18725952" cy="9064526"/>
          </a:xfrm>
          <a:prstGeom prst="rect">
            <a:avLst/>
          </a:prstGeom>
        </p:spPr>
        <p:txBody>
          <a:bodyPr anchor="ctr"/>
          <a:lstStyle/>
          <a:p>
            <a:pPr algn="l">
              <a:lnSpc>
                <a:spcPct val="150000"/>
              </a:lnSpc>
              <a:spcBef>
                <a:spcPts val="5900"/>
              </a:spcBef>
              <a:defRPr sz="4500" b="1">
                <a:solidFill>
                  <a:srgbClr val="423130"/>
                </a:solidFill>
              </a:defRPr>
            </a:pPr>
            <a:r>
              <a:t>&amp; suddenly all the elements of the day as I have remembered it</a:t>
            </a:r>
            <a:br/>
            <a:r>
              <a:t>begin to plummet from the floor to the ceiling bolt-upwards</a:t>
            </a:r>
            <a:br/>
            <a:r>
              <a:t>as if all the gravity &amp; the world are nothing more than one end</a:t>
            </a:r>
            <a:br/>
            <a:r>
              <a:t>of an hour glass that someone has turned over while boiling an egg</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by Valentine Carter…"/>
          <p:cNvSpPr txBox="1">
            <a:spLocks noGrp="1"/>
          </p:cNvSpPr>
          <p:nvPr>
            <p:ph type="subTitle" sz="quarter" idx="1"/>
          </p:nvPr>
        </p:nvSpPr>
        <p:spPr>
          <a:xfrm>
            <a:off x="6673453" y="5491757"/>
            <a:ext cx="11037096" cy="2732486"/>
          </a:xfrm>
          <a:prstGeom prst="rect">
            <a:avLst/>
          </a:prstGeom>
        </p:spPr>
        <p:txBody>
          <a:bodyPr/>
          <a:lstStyle/>
          <a:p>
            <a:pPr defTabSz="755808">
              <a:defRPr sz="3496"/>
            </a:pPr>
            <a:r>
              <a:t>by Valentine Carter</a:t>
            </a:r>
          </a:p>
          <a:p>
            <a:pPr defTabSz="755808">
              <a:defRPr sz="3496"/>
            </a:pPr>
            <a:endParaRPr/>
          </a:p>
          <a:p>
            <a:pPr defTabSz="755808">
              <a:defRPr sz="3496"/>
            </a:pPr>
            <a:r>
              <a:rPr u="sng">
                <a:hlinkClick r:id="rId2"/>
              </a:rPr>
              <a:t>valentinecarter.xyz</a:t>
            </a:r>
            <a:br/>
            <a:endParaRPr/>
          </a:p>
          <a:p>
            <a:pPr defTabSz="755808">
              <a:defRPr sz="3496"/>
            </a:pPr>
            <a:r>
              <a:t>@_vcarter_</a:t>
            </a:r>
          </a:p>
        </p:txBody>
      </p:sp>
      <p:sp>
        <p:nvSpPr>
          <p:cNvPr id="203" name="more information follows"/>
          <p:cNvSpPr txBox="1"/>
          <p:nvPr/>
        </p:nvSpPr>
        <p:spPr>
          <a:xfrm>
            <a:off x="17905812" y="12169155"/>
            <a:ext cx="5305121" cy="55369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3578" tIns="53578" rIns="53578" bIns="53578" anchor="ctr">
            <a:spAutoFit/>
          </a:bodyPr>
          <a:lstStyle>
            <a:lvl1pPr>
              <a:defRPr b="0"/>
            </a:lvl1pPr>
          </a:lstStyle>
          <a:p>
            <a:r>
              <a:t>more information follows</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A pecha kucha is a style of presentation originating in Japan. The presenter shows 20 slides which they display for 20 seconds each. It was invented by two architects to encourage people to be more organised and succinct.…"/>
          <p:cNvSpPr txBox="1">
            <a:spLocks noGrp="1"/>
          </p:cNvSpPr>
          <p:nvPr>
            <p:ph type="body" sz="half" idx="1"/>
          </p:nvPr>
        </p:nvSpPr>
        <p:spPr>
          <a:xfrm>
            <a:off x="6338589" y="2012751"/>
            <a:ext cx="11706823" cy="9064527"/>
          </a:xfrm>
          <a:prstGeom prst="rect">
            <a:avLst/>
          </a:prstGeom>
        </p:spPr>
        <p:txBody>
          <a:bodyPr/>
          <a:lstStyle/>
          <a:p>
            <a:pPr marL="0" indent="0">
              <a:buSzTx/>
              <a:buNone/>
              <a:defRPr sz="3800"/>
            </a:pPr>
            <a:r>
              <a:t>A pecha kucha is a style of presentation originating in Japan. The presenter shows 20 slides which they display for 20 seconds each. It was invented by two architects to encourage people to be more organised and succinct.</a:t>
            </a:r>
          </a:p>
          <a:p>
            <a:pPr marL="0" indent="0">
              <a:buSzTx/>
              <a:buNone/>
              <a:defRPr sz="3800"/>
            </a:pPr>
            <a:r>
              <a:t>Pecha kucha means </a:t>
            </a:r>
            <a:r>
              <a:rPr i="1"/>
              <a:t>the sound of the conversation</a:t>
            </a:r>
            <a:r>
              <a:t> in Japanese. </a:t>
            </a:r>
          </a:p>
          <a:p>
            <a:pPr marL="0" indent="0">
              <a:buSzTx/>
              <a:buNone/>
              <a:defRPr sz="3800"/>
            </a:pPr>
            <a:r>
              <a:t>As a poetic form it has been employed most famously by Terence Hayes. This form although organised, it is not necessarily succinct.</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Lee Krasner (1908 - 1984) was an American abstract painter. Her importance as an artist, like that of many women, was underestimated throughout her career. Six months after she died, she became only the second female artist to have a retrospective at the"/>
          <p:cNvSpPr txBox="1">
            <a:spLocks noGrp="1"/>
          </p:cNvSpPr>
          <p:nvPr>
            <p:ph type="body" sz="half" idx="1"/>
          </p:nvPr>
        </p:nvSpPr>
        <p:spPr>
          <a:xfrm>
            <a:off x="6338589" y="2012751"/>
            <a:ext cx="11706823" cy="9064527"/>
          </a:xfrm>
          <a:prstGeom prst="rect">
            <a:avLst/>
          </a:prstGeom>
        </p:spPr>
        <p:txBody>
          <a:bodyPr/>
          <a:lstStyle/>
          <a:p>
            <a:pPr marL="0" indent="0">
              <a:buSzTx/>
              <a:buNone/>
              <a:defRPr sz="3800"/>
            </a:pPr>
            <a:r>
              <a:t>Lee Krasner (1908 - 1984) was an American abstract painter. Her importance as an artist, like that of many women, was underestimated throughout her career. Six months after she died, she became only the second female artist to have a retrospective at the notoriously ovary-dodging MoMA in New York.</a:t>
            </a:r>
          </a:p>
          <a:p>
            <a:pPr marL="0" indent="0">
              <a:buSzTx/>
              <a:buNone/>
              <a:defRPr sz="3800"/>
            </a:pPr>
            <a:r>
              <a:t>In the summer of 2019 the Barbican Gallery in London held a retrospective of her work. This poem sequence was written shortly afterwards in response to 20 of my favourite works. </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The colours used in these slides were digitally colour picked from images of the paintings they reference."/>
          <p:cNvSpPr txBox="1">
            <a:spLocks noGrp="1"/>
          </p:cNvSpPr>
          <p:nvPr>
            <p:ph type="body" sz="half" idx="1"/>
          </p:nvPr>
        </p:nvSpPr>
        <p:spPr>
          <a:xfrm>
            <a:off x="6338589" y="2325737"/>
            <a:ext cx="11706822" cy="9064526"/>
          </a:xfrm>
          <a:prstGeom prst="rect">
            <a:avLst/>
          </a:prstGeom>
        </p:spPr>
        <p:txBody>
          <a:bodyPr/>
          <a:lstStyle>
            <a:lvl1pPr marL="0" indent="0">
              <a:buSzTx/>
              <a:buNone/>
              <a:defRPr sz="3800"/>
            </a:lvl1pPr>
          </a:lstStyle>
          <a:p>
            <a:r>
              <a:t>The colours used in these slides were digitally colour picked from images of the paintings they reference. </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53578" tIns="53578" rIns="53578" bIns="53578"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53578" tIns="53578" rIns="53578" bIns="53578"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53578" tIns="53578" rIns="53578" bIns="53578"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53578" tIns="53578" rIns="53578" bIns="53578"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1330</Words>
  <Application>Microsoft Macintosh PowerPoint</Application>
  <PresentationFormat>Custom</PresentationFormat>
  <Paragraphs>53</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Helvetica Light</vt:lpstr>
      <vt:lpstr>Helvetica Neue</vt:lpstr>
      <vt:lpstr>Helvetica Neue Light</vt:lpstr>
      <vt:lpstr>Helvetica Neue Medium</vt:lpstr>
      <vt:lpstr>Helvetica Neue Thin</vt:lpstr>
      <vt:lpstr>White</vt:lpstr>
      <vt:lpstr>Living Colour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Living Colour</dc:title>
  <cp:lastModifiedBy>Valentine Carter</cp:lastModifiedBy>
  <cp:revision>1</cp:revision>
  <dcterms:modified xsi:type="dcterms:W3CDTF">2020-04-04T14:46:44Z</dcterms:modified>
</cp:coreProperties>
</file>